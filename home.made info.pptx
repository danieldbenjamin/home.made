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Noto Sans Symbols" pitchFamily="2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nVak2MADC04JdxvCffSANqXla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b937fff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b937fff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b937fff0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b937fff0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8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b" anchorCtr="0">
            <a:normAutofit/>
          </a:bodyPr>
          <a:lstStyle>
            <a:lvl1pPr lvl="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 sz="1800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8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2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147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3pPr>
            <a:lvl4pPr marL="1828800" lvl="3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4pPr>
            <a:lvl5pPr marL="2286000" lvl="4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5pPr>
            <a:lvl6pPr marL="2743200" lvl="5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6pPr>
            <a:lvl7pPr marL="3200400" lvl="6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7pPr>
            <a:lvl8pPr marL="3657600" lvl="7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8pPr>
            <a:lvl9pPr marL="4114800" lvl="8" indent="-33147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20"/>
              <a:buChar char="▪"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9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b" anchorCtr="0">
            <a:normAutofit/>
          </a:bodyPr>
          <a:lstStyle>
            <a:lvl1pPr marL="457200" lvl="0" indent="-22860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44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1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605374" y="2052116"/>
            <a:ext cx="3891960" cy="39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3pPr>
            <a:lvl4pPr marL="1828800" lvl="3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4pPr>
            <a:lvl5pPr marL="2286000" lvl="4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5pPr>
            <a:lvl6pPr marL="2743200" lvl="5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6pPr>
            <a:lvl7pPr marL="3200400" lvl="6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7pPr>
            <a:lvl8pPr marL="3657600" lvl="7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8pPr>
            <a:lvl9pPr marL="4114800" lvl="8" indent="-33147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20"/>
              <a:buChar char="▪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2"/>
          </p:nvPr>
        </p:nvSpPr>
        <p:spPr>
          <a:xfrm>
            <a:off x="6666636" y="2052114"/>
            <a:ext cx="3894222" cy="3997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3pPr>
            <a:lvl4pPr marL="1828800" lvl="3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4pPr>
            <a:lvl5pPr marL="2286000" lvl="4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5pPr>
            <a:lvl6pPr marL="2743200" lvl="5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6pPr>
            <a:lvl7pPr marL="3200400" lvl="6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7pPr>
            <a:lvl8pPr marL="3657600" lvl="7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8pPr>
            <a:lvl9pPr marL="4114800" lvl="8" indent="-33147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20"/>
              <a:buChar char="▪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1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2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2200" b="0" cap="none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44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2609285" y="2851331"/>
            <a:ext cx="3893623" cy="3071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3pPr>
            <a:lvl4pPr marL="1828800" lvl="3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4pPr>
            <a:lvl5pPr marL="2286000" lvl="4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5pPr>
            <a:lvl6pPr marL="2743200" lvl="5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6pPr>
            <a:lvl7pPr marL="3200400" lvl="6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7pPr>
            <a:lvl8pPr marL="3657600" lvl="7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8pPr>
            <a:lvl9pPr marL="4114800" lvl="8" indent="-33147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20"/>
              <a:buChar char="▪"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3"/>
          </p:nvPr>
        </p:nvSpPr>
        <p:spPr>
          <a:xfrm>
            <a:off x="6666634" y="2052115"/>
            <a:ext cx="3899798" cy="71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2200" b="0" cap="none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44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4"/>
          </p:nvPr>
        </p:nvSpPr>
        <p:spPr>
          <a:xfrm>
            <a:off x="6666635" y="2851331"/>
            <a:ext cx="3899798" cy="3071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3pPr>
            <a:lvl4pPr marL="1828800" lvl="3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4pPr>
            <a:lvl5pPr marL="2286000" lvl="4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5pPr>
            <a:lvl6pPr marL="2743200" lvl="5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6pPr>
            <a:lvl7pPr marL="3200400" lvl="6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7pPr>
            <a:lvl8pPr marL="3657600" lvl="7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8pPr>
            <a:lvl9pPr marL="4114800" lvl="8" indent="-33147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20"/>
              <a:buChar char="▪"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3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5120154" y="805818"/>
            <a:ext cx="5446278" cy="524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147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3pPr>
            <a:lvl4pPr marL="1828800" lvl="3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4pPr>
            <a:lvl5pPr marL="2286000" lvl="4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5pPr>
            <a:lvl6pPr marL="2743200" lvl="5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6pPr>
            <a:lvl7pPr marL="3200400" lvl="6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7pPr>
            <a:lvl8pPr marL="3657600" lvl="7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8pPr>
            <a:lvl9pPr marL="4114800" lvl="8" indent="-33147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20"/>
              <a:buChar char="▪"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2"/>
          </p:nvPr>
        </p:nvSpPr>
        <p:spPr>
          <a:xfrm>
            <a:off x="1970322" y="3186154"/>
            <a:ext cx="2664361" cy="23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>
            <a:spLocks noGrp="1"/>
          </p:cNvSpPr>
          <p:nvPr>
            <p:ph type="pic" idx="2"/>
          </p:nvPr>
        </p:nvSpPr>
        <p:spPr>
          <a:xfrm>
            <a:off x="6747062" y="3229"/>
            <a:ext cx="4629734" cy="6858000"/>
          </a:xfrm>
          <a:prstGeom prst="rect">
            <a:avLst/>
          </a:prstGeom>
          <a:solidFill>
            <a:schemeClr val="lt1">
              <a:alpha val="10196"/>
            </a:schemeClr>
          </a:solidFill>
          <a:ln>
            <a:noFill/>
          </a:ln>
        </p:spPr>
      </p:sp>
      <p:sp>
        <p:nvSpPr>
          <p:cNvPr id="92" name="Google Shape;92;p16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body" idx="1"/>
          </p:nvPr>
        </p:nvSpPr>
        <p:spPr>
          <a:xfrm>
            <a:off x="1970322" y="3182928"/>
            <a:ext cx="3971874" cy="2386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20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1000"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1"/>
          </p:nvPr>
        </p:nvSpPr>
        <p:spPr>
          <a:xfrm rot="5400000">
            <a:off x="4672955" y="152760"/>
            <a:ext cx="3997828" cy="779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3pPr>
            <a:lvl4pPr marL="1828800" lvl="3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4pPr>
            <a:lvl5pPr marL="2286000" lvl="4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5pPr>
            <a:lvl6pPr marL="2743200" lvl="5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6pPr>
            <a:lvl7pPr marL="3200400" lvl="6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7pPr>
            <a:lvl8pPr marL="3657600" lvl="7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8pPr>
            <a:lvl9pPr marL="4114800" lvl="8" indent="-33147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20"/>
              <a:buChar char="▪"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dk2">
              <a:alpha val="9215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10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 rot="5400000">
            <a:off x="7280577" y="2764621"/>
            <a:ext cx="5244126" cy="132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1"/>
          </p:nvPr>
        </p:nvSpPr>
        <p:spPr>
          <a:xfrm rot="5400000">
            <a:off x="3302436" y="276725"/>
            <a:ext cx="5079534" cy="6466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3pPr>
            <a:lvl4pPr marL="1828800" lvl="3" indent="-331469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4pPr>
            <a:lvl5pPr marL="2286000" lvl="4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5pPr>
            <a:lvl6pPr marL="2743200" lvl="5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6pPr>
            <a:lvl7pPr marL="3200400" lvl="6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7pPr>
            <a:lvl8pPr marL="3657600" lvl="7" indent="-33147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20"/>
              <a:buChar char="▪"/>
              <a:defRPr/>
            </a:lvl8pPr>
            <a:lvl9pPr marL="4114800" lvl="8" indent="-33147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1620"/>
              <a:buChar char="▪"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1218986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▪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7179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7179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7179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7179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7179" algn="l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dt" idx="10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8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158407" y="164592"/>
            <a:ext cx="636727" cy="32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7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ome-made.co.z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2611808" y="431798"/>
            <a:ext cx="5518066" cy="2268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home.made</a:t>
            </a:r>
            <a:br>
              <a:rPr lang="en-US"/>
            </a:br>
            <a:r>
              <a:rPr lang="en-US" sz="4400"/>
              <a:t>homes made different.</a:t>
            </a:r>
            <a:br>
              <a:rPr lang="en-US" sz="4400"/>
            </a:br>
            <a:r>
              <a:rPr lang="en-US" sz="4400"/>
              <a:t>made for you.</a:t>
            </a:r>
            <a:endParaRPr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2772274" y="3741986"/>
            <a:ext cx="5357600" cy="116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b" anchorCtr="0">
            <a:norm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www.home-made.co.za</a:t>
            </a:r>
            <a:endParaRPr/>
          </a:p>
          <a:p>
            <a:pPr marL="0" lvl="0" indent="0" algn="r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620"/>
              <a:buNone/>
            </a:pPr>
            <a:r>
              <a:rPr lang="en-US"/>
              <a:t>www.home.made.com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lang="en-US"/>
              <a:t>Who we are</a:t>
            </a:r>
            <a:br>
              <a:rPr lang="en-US"/>
            </a:br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344488" lvl="0" indent="-34448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At home.made, we believe your build should be as unique as you are. We combine the strength and precision of light steel frame construction with fully customizable designs — so every home we build is truly one of a kind.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Specialising in small space pod units, we create for you a unique solution to meet your needs.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Our approach strips away the inefficiencies of traditional construction. Light steel framing means faster build times, less waste, and a structure that stands the test of time. And because every component is precision-engineered, your home fits together perfectly.</a:t>
            </a:r>
            <a:endParaRPr/>
          </a:p>
          <a:p>
            <a:pPr marL="344488" lvl="0" indent="-23876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ct val="900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lang="en-US"/>
              <a:t>What we create</a:t>
            </a:r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4488" lvl="0" indent="-34448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Light steel frame modular units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Factory built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Configured to brief : bed, bath, kitchen, living, deck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Choice of finishes and designs</a:t>
            </a:r>
            <a:endParaRPr/>
          </a:p>
          <a:p>
            <a:pPr marL="344488" lvl="0" indent="-2301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lang="en-US"/>
              <a:t>Why</a:t>
            </a:r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4488" lvl="0" indent="-34448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Time. Units are factory built concurrent with onsite groundworks. This significantly reduces construction time, minimizes weather exposure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Unique foundation design. allows for an adaptable build on slopes, uneven territory, sensitive terrain. Factory built units are transported to site, assembled, finished and handed over.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Green. Sustainabilitty.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Cost efficient. Finishes can be scaled up or down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Future proof. Grow, relocate, re-configure.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ct val="90000"/>
              <a:buChar char="▪"/>
            </a:pPr>
            <a:r>
              <a:rPr lang="en-US"/>
              <a:t>[%faster, %greener, % etc]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4488" lvl="0" indent="-34448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Process:</a:t>
            </a:r>
            <a:endParaRPr/>
          </a:p>
          <a:p>
            <a:pPr marL="795338" lvl="1" indent="-338138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620"/>
              <a:buChar char="▪"/>
            </a:pPr>
            <a:r>
              <a:rPr lang="en-US"/>
              <a:t>Design</a:t>
            </a:r>
            <a:endParaRPr/>
          </a:p>
          <a:p>
            <a:pPr marL="795338" lvl="1" indent="-338138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620"/>
              <a:buChar char="▪"/>
            </a:pPr>
            <a:r>
              <a:rPr lang="en-US"/>
              <a:t>Engineer</a:t>
            </a:r>
            <a:endParaRPr/>
          </a:p>
          <a:p>
            <a:pPr marL="795338" lvl="1" indent="-338138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620"/>
              <a:buChar char="▪"/>
            </a:pPr>
            <a:r>
              <a:rPr lang="en-US"/>
              <a:t>Build : On-site and Factory concurrently </a:t>
            </a:r>
            <a:endParaRPr/>
          </a:p>
          <a:p>
            <a:pPr marL="795338" lvl="1" indent="-338138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620"/>
              <a:buChar char="▪"/>
            </a:pPr>
            <a:r>
              <a:rPr lang="en-US"/>
              <a:t>Handover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lang="en-US"/>
              <a:t>Design Menu</a:t>
            </a:r>
            <a:endParaRPr/>
          </a:p>
        </p:txBody>
      </p:sp>
      <p:sp>
        <p:nvSpPr>
          <p:cNvPr id="151" name="Google Shape;151;p6"/>
          <p:cNvSpPr txBox="1"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4488" lvl="0" indent="-34448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Choose the units required:</a:t>
            </a:r>
            <a:endParaRPr/>
          </a:p>
          <a:p>
            <a:pPr marL="795338" lvl="1" indent="-338138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620"/>
              <a:buChar char="▪"/>
            </a:pPr>
            <a:r>
              <a:rPr lang="en-US"/>
              <a:t>Bed, Bath, Kitchen, Living, Outside living.</a:t>
            </a:r>
            <a:endParaRPr/>
          </a:p>
          <a:p>
            <a:pPr marL="795338" lvl="1" indent="-338138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620"/>
              <a:buChar char="▪"/>
            </a:pPr>
            <a:r>
              <a:rPr lang="en-US"/>
              <a:t>Max width : 3.4m</a:t>
            </a:r>
            <a:endParaRPr/>
          </a:p>
          <a:p>
            <a:pPr marL="795338" lvl="1" indent="-338138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620"/>
              <a:buChar char="▪"/>
            </a:pPr>
            <a:r>
              <a:rPr lang="en-US"/>
              <a:t>Configure</a:t>
            </a:r>
            <a:endParaRPr/>
          </a:p>
          <a:p>
            <a:pPr marL="795338" lvl="1" indent="-338138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1620"/>
              <a:buChar char="▪"/>
            </a:pPr>
            <a:r>
              <a:rPr lang="en-US"/>
              <a:t>[pics of units and some layout suggestions]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Choose design, finishes</a:t>
            </a:r>
            <a:endParaRPr/>
          </a:p>
          <a:p>
            <a:pPr marL="344488" lvl="0" indent="-344488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[cladding roofing flooring options + fireplace (wood, gas,smartfire options)/pizza oven, hot tub,]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b937fff00_0_0"/>
          <p:cNvSpPr txBox="1">
            <a:spLocks noGrp="1"/>
          </p:cNvSpPr>
          <p:nvPr>
            <p:ph type="title"/>
          </p:nvPr>
        </p:nvSpPr>
        <p:spPr>
          <a:xfrm>
            <a:off x="2692608" y="333781"/>
            <a:ext cx="7958400" cy="107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Summary</a:t>
            </a:r>
            <a:endParaRPr/>
          </a:p>
        </p:txBody>
      </p:sp>
      <p:sp>
        <p:nvSpPr>
          <p:cNvPr id="157" name="Google Shape;157;g3cb937fff00_0_0"/>
          <p:cNvSpPr txBox="1">
            <a:spLocks noGrp="1"/>
          </p:cNvSpPr>
          <p:nvPr>
            <p:ph type="body" idx="1"/>
          </p:nvPr>
        </p:nvSpPr>
        <p:spPr>
          <a:xfrm>
            <a:off x="2343550" y="1227575"/>
            <a:ext cx="8226300" cy="5175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022"/>
              <a:t>This presentation outlines the business model and value proposition for </a:t>
            </a:r>
            <a:r>
              <a:rPr lang="en-US" sz="1022" b="1"/>
              <a:t>home.made</a:t>
            </a:r>
            <a:r>
              <a:rPr lang="en-US" sz="1022"/>
              <a:t>, a construction company specializing in modular, light steel frame (LSF) housing.</a:t>
            </a:r>
            <a:endParaRPr sz="1022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022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117" b="1"/>
              <a:t>Core Identity</a:t>
            </a:r>
            <a:endParaRPr sz="1417" b="1"/>
          </a:p>
          <a:p>
            <a:pPr marL="457200" lvl="0" indent="-29352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Methodology:</a:t>
            </a:r>
            <a:r>
              <a:rPr lang="en-US" sz="1022"/>
              <a:t> Combines precision-engineered </a:t>
            </a:r>
            <a:r>
              <a:rPr lang="en-US" sz="1022" b="1"/>
              <a:t>light steel frame construction</a:t>
            </a:r>
            <a:r>
              <a:rPr lang="en-US" sz="1022"/>
              <a:t> with fully customizable modular designs.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Specialization:</a:t>
            </a:r>
            <a:r>
              <a:rPr lang="en-US" sz="1022"/>
              <a:t> Small-space "pod units" designed for efficiency and uniqueness.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Advantage:</a:t>
            </a:r>
            <a:r>
              <a:rPr lang="en-US" sz="1022"/>
              <a:t> Replaces traditional construction inefficiencies with faster build times, reduced waste, and high structural durability.</a:t>
            </a:r>
            <a:endParaRPr sz="1022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117" b="1"/>
              <a:t>Product Features</a:t>
            </a:r>
            <a:endParaRPr sz="1117" b="1"/>
          </a:p>
          <a:p>
            <a:pPr marL="457200" lvl="0" indent="-29352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Modular Units:</a:t>
            </a:r>
            <a:r>
              <a:rPr lang="en-US" sz="1022"/>
              <a:t> Factory-built pods configured to specific briefs (Bedroom, Bathroom, Kitchen, Living, and Deck).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Technical Specs:</a:t>
            </a:r>
            <a:r>
              <a:rPr lang="en-US" sz="1022"/>
              <a:t> Maximum unit width of </a:t>
            </a:r>
            <a:r>
              <a:rPr lang="en-US" sz="1022" b="1"/>
              <a:t>3.4m</a:t>
            </a:r>
            <a:r>
              <a:rPr lang="en-US" sz="1022"/>
              <a:t>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Customization:</a:t>
            </a:r>
            <a:r>
              <a:rPr lang="en-US" sz="1022"/>
              <a:t> Clients select layouts, interior finishes, and high-end add-ons (fireplaces, pizza ovens, hot tubs).</a:t>
            </a:r>
            <a:endParaRPr sz="1022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117" b="1"/>
              <a:t>Strategic Benefits</a:t>
            </a:r>
            <a:endParaRPr sz="1117" b="1"/>
          </a:p>
          <a:p>
            <a:pPr marL="457200" lvl="0" indent="-29352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Efficiency:</a:t>
            </a:r>
            <a:r>
              <a:rPr lang="en-US" sz="1022"/>
              <a:t> Factory production occurs concurrently with site groundworks, significantly shortening the project timeline.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Adaptability:</a:t>
            </a:r>
            <a:r>
              <a:rPr lang="en-US" sz="1022"/>
              <a:t> A unique foundation design allows for building on slopes, uneven territory, or environmentally sensitive terrain.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Sustainability:</a:t>
            </a:r>
            <a:r>
              <a:rPr lang="en-US" sz="1022"/>
              <a:t> Focused on "green" building practices and reduced material waste.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Char char="●"/>
            </a:pPr>
            <a:r>
              <a:rPr lang="en-US" sz="1022" b="1"/>
              <a:t>Flexibility:</a:t>
            </a:r>
            <a:r>
              <a:rPr lang="en-US" sz="1022"/>
              <a:t> Units are "future-proof," meaning they can be relocated, reconfigured, or expanded as needs change.</a:t>
            </a:r>
            <a:endParaRPr sz="1022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117" b="1"/>
              <a:t>The "How it Works" Process</a:t>
            </a:r>
            <a:endParaRPr sz="1117" b="1"/>
          </a:p>
          <a:p>
            <a:pPr marL="457200" lvl="0" indent="-29352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AutoNum type="arabicPeriod"/>
            </a:pPr>
            <a:r>
              <a:rPr lang="en-US" sz="1022" b="1"/>
              <a:t>Design:</a:t>
            </a:r>
            <a:r>
              <a:rPr lang="en-US" sz="1022"/>
              <a:t> Selection of units and finishes from a "Design Menu."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AutoNum type="arabicPeriod"/>
            </a:pPr>
            <a:r>
              <a:rPr lang="en-US" sz="1022" b="1"/>
              <a:t>Engineer:</a:t>
            </a:r>
            <a:r>
              <a:rPr lang="en-US" sz="1022"/>
              <a:t> Precision engineering of all components.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AutoNum type="arabicPeriod"/>
            </a:pPr>
            <a:r>
              <a:rPr lang="en-US" sz="1022" b="1"/>
              <a:t>Build:</a:t>
            </a:r>
            <a:r>
              <a:rPr lang="en-US" sz="1022"/>
              <a:t> Simultaneous factory production and on-site preparation.</a:t>
            </a:r>
            <a:endParaRPr sz="1022"/>
          </a:p>
          <a:p>
            <a:pPr marL="457200" lvl="0" indent="-29352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3"/>
              <a:buFont typeface="Arial"/>
              <a:buAutoNum type="arabicPeriod"/>
            </a:pPr>
            <a:r>
              <a:rPr lang="en-US" sz="1022" b="1"/>
              <a:t>Handover:</a:t>
            </a:r>
            <a:r>
              <a:rPr lang="en-US" sz="1022"/>
              <a:t> Transport, assembly, and final finishing on-site.</a:t>
            </a:r>
            <a:endParaRPr sz="1022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022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022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ts val="523"/>
              <a:buNone/>
            </a:pPr>
            <a:endParaRPr sz="1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b937fff00_0_6"/>
          <p:cNvSpPr txBox="1">
            <a:spLocks noGrp="1"/>
          </p:cNvSpPr>
          <p:nvPr>
            <p:ph type="title"/>
          </p:nvPr>
        </p:nvSpPr>
        <p:spPr>
          <a:xfrm>
            <a:off x="2611808" y="808056"/>
            <a:ext cx="7958400" cy="107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About home.made</a:t>
            </a:r>
            <a:endParaRPr/>
          </a:p>
        </p:txBody>
      </p:sp>
      <p:sp>
        <p:nvSpPr>
          <p:cNvPr id="163" name="Google Shape;163;g3cb937fff00_0_6"/>
          <p:cNvSpPr txBox="1">
            <a:spLocks noGrp="1"/>
          </p:cNvSpPr>
          <p:nvPr>
            <p:ph type="body" idx="1"/>
          </p:nvPr>
        </p:nvSpPr>
        <p:spPr>
          <a:xfrm>
            <a:off x="2773599" y="2052116"/>
            <a:ext cx="7796400" cy="399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At </a:t>
            </a:r>
            <a:r>
              <a:rPr lang="en-US" sz="1400" b="1"/>
              <a:t>home.made</a:t>
            </a:r>
            <a:r>
              <a:rPr lang="en-US" sz="1400"/>
              <a:t>, we don't just build houses; we engineer high-performance living spaces. Based on a philosophy of efficiency and adaptability, our modular approach utilizes </a:t>
            </a:r>
            <a:r>
              <a:rPr lang="en-US" sz="1400" b="1"/>
              <a:t>Light Steel Frame (LSF)</a:t>
            </a:r>
            <a:r>
              <a:rPr lang="en-US" sz="1400"/>
              <a:t> technology to deliver precision-crafted 'pod units' that bridge the gap between architectural luxury and industrial speed.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/>
              <a:t>Why choose home.made?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US" sz="1400" b="1"/>
              <a:t>Precision Engineering:</a:t>
            </a:r>
            <a:r>
              <a:rPr lang="en-US" sz="1400"/>
              <a:t> Every unit is factory-built to a maximum width of 3.4m, ensuring structural integrity and easy transport.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US" sz="1400" b="1"/>
              <a:t>Simultaneous Production:</a:t>
            </a:r>
            <a:r>
              <a:rPr lang="en-US" sz="1400"/>
              <a:t> By building your home in our factory while groundworks are completed on-site, we deliver your space in a fraction of the time.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US" sz="1400" b="1"/>
              <a:t>Terrain Versatility:</a:t>
            </a:r>
            <a:r>
              <a:rPr lang="en-US" sz="1400"/>
              <a:t> Our unique foundation designs mean we can build where others can't—on slopes, uneven ground, and eco-sensitive sites.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US" sz="1400" b="1"/>
              <a:t>Sustainable &amp; Future-Proof:</a:t>
            </a:r>
            <a:r>
              <a:rPr lang="en-US" sz="1400"/>
              <a:t> We minimize material waste and design our units to be relocatable or expandable, ensuring your home evolves with your lifestyle.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From the first selection on our </a:t>
            </a:r>
            <a:r>
              <a:rPr lang="en-US" sz="1400" b="1"/>
              <a:t>Design Menu</a:t>
            </a:r>
            <a:r>
              <a:rPr lang="en-US" sz="1400"/>
              <a:t> to the final on-site handover, </a:t>
            </a:r>
            <a:r>
              <a:rPr lang="en-US" sz="1400" b="1"/>
              <a:t>home.made</a:t>
            </a:r>
            <a:r>
              <a:rPr lang="en-US" sz="1400"/>
              <a:t> provides a seamless, transparent, and eco-conscious path to modern living.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600"/>
              </a:spcAft>
              <a:buNone/>
            </a:pP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Madison">
      <a:dk1>
        <a:srgbClr val="000000"/>
      </a:dk1>
      <a:lt1>
        <a:srgbClr val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770</Words>
  <Application>Microsoft Macintosh PowerPoint</Application>
  <PresentationFormat>Widescreen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Noto Sans Symbols</vt:lpstr>
      <vt:lpstr>Madison</vt:lpstr>
      <vt:lpstr>home.made homes made different. made for you.</vt:lpstr>
      <vt:lpstr>Who we are </vt:lpstr>
      <vt:lpstr>What we create</vt:lpstr>
      <vt:lpstr>Why</vt:lpstr>
      <vt:lpstr>How it works</vt:lpstr>
      <vt:lpstr>Design Menu</vt:lpstr>
      <vt:lpstr>Business Summary</vt:lpstr>
      <vt:lpstr>About home.made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home.made homes made different. made for you.</dc:title>
  <dc:creator>Ashley Dewar</dc:creator>
  <cp:lastModifiedBy>Daniel Benjamin</cp:lastModifiedBy>
  <cp:revision>1</cp:revision>
  <dcterms:created xsi:type="dcterms:W3CDTF">2026-02-25T16:54:17Z</dcterms:created>
  <dcterms:modified xsi:type="dcterms:W3CDTF">2026-02-28T15:22:01Z</dcterms:modified>
</cp:coreProperties>
</file>